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Noto Sans" panose="020B0502040204020203" pitchFamily="34" charset="0"/>
      <p:regular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blue paint splotch"/>
          <p:cNvSpPr/>
          <p:nvPr/>
        </p:nvSpPr>
        <p:spPr>
          <a:xfrm>
            <a:off x="3794906" y="429611"/>
            <a:ext cx="10698188" cy="9427779"/>
          </a:xfrm>
          <a:custGeom>
            <a:avLst/>
            <a:gdLst/>
            <a:ahLst/>
            <a:cxnLst/>
            <a:rect l="l" t="t" r="r" b="b"/>
            <a:pathLst>
              <a:path w="10698188" h="9427779">
                <a:moveTo>
                  <a:pt x="0" y="0"/>
                </a:moveTo>
                <a:lnTo>
                  <a:pt x="10698188" y="0"/>
                </a:lnTo>
                <a:lnTo>
                  <a:pt x="10698188" y="9427778"/>
                </a:lnTo>
                <a:lnTo>
                  <a:pt x="0" y="9427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3302205" y="2187713"/>
            <a:ext cx="11683589" cy="5911575"/>
            <a:chOff x="0" y="0"/>
            <a:chExt cx="3497846" cy="1769814"/>
          </a:xfrm>
        </p:grpSpPr>
        <p:sp>
          <p:nvSpPr>
            <p:cNvPr id="4" name="Freeform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3497846" cy="1769814"/>
            </a:xfrm>
            <a:custGeom>
              <a:avLst/>
              <a:gdLst/>
              <a:ahLst/>
              <a:cxnLst/>
              <a:rect l="l" t="t" r="r" b="b"/>
              <a:pathLst>
                <a:path w="3497846" h="1769814">
                  <a:moveTo>
                    <a:pt x="0" y="0"/>
                  </a:moveTo>
                  <a:lnTo>
                    <a:pt x="0" y="1769814"/>
                  </a:lnTo>
                  <a:lnTo>
                    <a:pt x="3497846" y="1769814"/>
                  </a:lnTo>
                  <a:lnTo>
                    <a:pt x="3497846" y="0"/>
                  </a:lnTo>
                  <a:lnTo>
                    <a:pt x="0" y="0"/>
                  </a:lnTo>
                  <a:close/>
                  <a:moveTo>
                    <a:pt x="3436886" y="1708854"/>
                  </a:moveTo>
                  <a:lnTo>
                    <a:pt x="59690" y="1708854"/>
                  </a:lnTo>
                  <a:lnTo>
                    <a:pt x="59690" y="59690"/>
                  </a:lnTo>
                  <a:lnTo>
                    <a:pt x="3436886" y="59690"/>
                  </a:lnTo>
                  <a:lnTo>
                    <a:pt x="3436886" y="17088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221344" y="84525"/>
            <a:ext cx="1850813" cy="1399040"/>
          </a:xfrm>
          <a:custGeom>
            <a:avLst/>
            <a:gdLst/>
            <a:ahLst/>
            <a:cxnLst/>
            <a:rect l="l" t="t" r="r" b="b"/>
            <a:pathLst>
              <a:path w="1850813" h="1399040">
                <a:moveTo>
                  <a:pt x="0" y="0"/>
                </a:moveTo>
                <a:lnTo>
                  <a:pt x="1850814" y="0"/>
                </a:lnTo>
                <a:lnTo>
                  <a:pt x="1850814" y="1399040"/>
                </a:lnTo>
                <a:lnTo>
                  <a:pt x="0" y="139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103535" y="6651854"/>
            <a:ext cx="10080930" cy="119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1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Sinh </a:t>
            </a:r>
            <a:r>
              <a:rPr lang="en-US" sz="3600" spc="11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viên</a:t>
            </a:r>
            <a:r>
              <a:rPr lang="en-US" sz="3600" spc="1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spc="11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3600" spc="1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spc="11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hiện</a:t>
            </a:r>
            <a:r>
              <a:rPr lang="en-US" sz="3600" spc="1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PHẠM NGỌC ANH THƯ</a:t>
            </a:r>
          </a:p>
          <a:p>
            <a:pPr algn="ctr">
              <a:lnSpc>
                <a:spcPts val="4680"/>
              </a:lnSpc>
            </a:pPr>
            <a:r>
              <a:rPr lang="en-US" sz="3600" spc="11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Giảng</a:t>
            </a:r>
            <a:r>
              <a:rPr lang="en-US" sz="3600" spc="1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spc="11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viên</a:t>
            </a:r>
            <a:r>
              <a:rPr lang="en-US" sz="3600" spc="1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spc="11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hướng</a:t>
            </a:r>
            <a:r>
              <a:rPr lang="en-US" sz="3600" spc="1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spc="11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dẫn</a:t>
            </a:r>
            <a:r>
              <a:rPr lang="en-US" sz="3600" spc="1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Th.</a:t>
            </a:r>
            <a:r>
              <a:rPr lang="vi-VN" sz="3600" spc="1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600" spc="1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spc="1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HÀ VŨ TUÂN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36082" y="2306320"/>
            <a:ext cx="10815836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000" b="1" spc="19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KHÓA LUẬN TỐT NGHIỆP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94906" y="4418559"/>
            <a:ext cx="10757064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3200" b="1" spc="102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TÊN ĐỀ TÀI: </a:t>
            </a:r>
          </a:p>
          <a:p>
            <a:pPr algn="ctr">
              <a:lnSpc>
                <a:spcPts val="4680"/>
              </a:lnSpc>
            </a:pPr>
            <a:r>
              <a:rPr lang="en-US" sz="3600" b="1" spc="115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WEBSITE QUẢN LÝ VÀ ĐẶT PHÒNG BẢO LỘC</a:t>
            </a:r>
            <a:r>
              <a:rPr lang="en-US" sz="3600" spc="11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72158" y="525600"/>
            <a:ext cx="7651103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CÔNG NGHỆ SÀI GÒN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72192" y="525600"/>
            <a:ext cx="6087108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KHOA CÔNG NGHỆ THÔNG TIN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yellow paint splotch"/>
          <p:cNvSpPr/>
          <p:nvPr/>
        </p:nvSpPr>
        <p:spPr>
          <a:xfrm rot="7391448">
            <a:off x="-1667042" y="78059"/>
            <a:ext cx="13678828" cy="10130882"/>
          </a:xfrm>
          <a:custGeom>
            <a:avLst/>
            <a:gdLst/>
            <a:ahLst/>
            <a:cxnLst/>
            <a:rect l="l" t="t" r="r" b="b"/>
            <a:pathLst>
              <a:path w="13678828" h="10130882">
                <a:moveTo>
                  <a:pt x="0" y="0"/>
                </a:moveTo>
                <a:lnTo>
                  <a:pt x="13678828" y="0"/>
                </a:lnTo>
                <a:lnTo>
                  <a:pt x="13678828" y="10130882"/>
                </a:lnTo>
                <a:lnTo>
                  <a:pt x="0" y="10130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95147" y="2187713"/>
            <a:ext cx="8554450" cy="5716996"/>
            <a:chOff x="0" y="0"/>
            <a:chExt cx="4394285" cy="2936730"/>
          </a:xfrm>
        </p:grpSpPr>
        <p:sp>
          <p:nvSpPr>
            <p:cNvPr id="4" name="Freeform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4394285" cy="2936730"/>
            </a:xfrm>
            <a:custGeom>
              <a:avLst/>
              <a:gdLst/>
              <a:ahLst/>
              <a:cxnLst/>
              <a:rect l="l" t="t" r="r" b="b"/>
              <a:pathLst>
                <a:path w="4394285" h="2936730">
                  <a:moveTo>
                    <a:pt x="0" y="0"/>
                  </a:moveTo>
                  <a:lnTo>
                    <a:pt x="0" y="2936730"/>
                  </a:lnTo>
                  <a:lnTo>
                    <a:pt x="4394285" y="2936730"/>
                  </a:lnTo>
                  <a:lnTo>
                    <a:pt x="4394285" y="0"/>
                  </a:lnTo>
                  <a:lnTo>
                    <a:pt x="0" y="0"/>
                  </a:lnTo>
                  <a:close/>
                  <a:moveTo>
                    <a:pt x="4333325" y="2875770"/>
                  </a:moveTo>
                  <a:lnTo>
                    <a:pt x="59690" y="2875770"/>
                  </a:lnTo>
                  <a:lnTo>
                    <a:pt x="59690" y="59690"/>
                  </a:lnTo>
                  <a:lnTo>
                    <a:pt x="4333325" y="59690"/>
                  </a:lnTo>
                  <a:lnTo>
                    <a:pt x="4333325" y="28757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18413" y="4328026"/>
            <a:ext cx="6507918" cy="126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</a:pPr>
            <a:r>
              <a:rPr lang="en-US" sz="7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Đặt vấn đề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53629" y="2357121"/>
            <a:ext cx="5768663" cy="242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Tiềm năng: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Bảo Lộc đang trở thành trung tâm du lịch sinh thái nghỉ dưỡng lý tưởng.</a:t>
            </a:r>
          </a:p>
          <a:p>
            <a:pPr algn="l">
              <a:lnSpc>
                <a:spcPts val="3919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601423" y="2357121"/>
            <a:ext cx="473136" cy="64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01423" y="4587965"/>
            <a:ext cx="473136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01423" y="6520614"/>
            <a:ext cx="473136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53629" y="6520614"/>
            <a:ext cx="5768663" cy="2556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 quả: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Thiếu đồng bộ, khó xác thực, tiềm ẩn rủi ro khi đặt cọc.</a:t>
            </a:r>
          </a:p>
          <a:p>
            <a:pPr algn="l">
              <a:lnSpc>
                <a:spcPts val="504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353629" y="4558755"/>
            <a:ext cx="5768663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Thực trạng: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Việc đặt chỗ chủ yếu phân tán trên mạng xã hội.</a:t>
            </a:r>
          </a:p>
          <a:p>
            <a:pPr algn="l">
              <a:lnSpc>
                <a:spcPts val="3359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  <p:sp>
        <p:nvSpPr>
          <p:cNvPr id="13" name="Freeform 13"/>
          <p:cNvSpPr/>
          <p:nvPr/>
        </p:nvSpPr>
        <p:spPr>
          <a:xfrm>
            <a:off x="221344" y="84525"/>
            <a:ext cx="1850813" cy="1399040"/>
          </a:xfrm>
          <a:custGeom>
            <a:avLst/>
            <a:gdLst/>
            <a:ahLst/>
            <a:cxnLst/>
            <a:rect l="l" t="t" r="r" b="b"/>
            <a:pathLst>
              <a:path w="1850813" h="1399040">
                <a:moveTo>
                  <a:pt x="0" y="0"/>
                </a:moveTo>
                <a:lnTo>
                  <a:pt x="1850814" y="0"/>
                </a:lnTo>
                <a:lnTo>
                  <a:pt x="1850814" y="1399040"/>
                </a:lnTo>
                <a:lnTo>
                  <a:pt x="0" y="139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2072158" y="525600"/>
            <a:ext cx="7651103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CÔNG NGHỆ SÀI GÒN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72192" y="525600"/>
            <a:ext cx="6087108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KHOA CÔNG NGHỆ THÔNG TIN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2116" y="2182693"/>
            <a:ext cx="7261733" cy="5716996"/>
            <a:chOff x="0" y="0"/>
            <a:chExt cx="3730237" cy="2936730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3730237" cy="2936730"/>
            </a:xfrm>
            <a:custGeom>
              <a:avLst/>
              <a:gdLst/>
              <a:ahLst/>
              <a:cxnLst/>
              <a:rect l="l" t="t" r="r" b="b"/>
              <a:pathLst>
                <a:path w="3730237" h="2936730">
                  <a:moveTo>
                    <a:pt x="0" y="0"/>
                  </a:moveTo>
                  <a:lnTo>
                    <a:pt x="0" y="2936730"/>
                  </a:lnTo>
                  <a:lnTo>
                    <a:pt x="3730237" y="2936730"/>
                  </a:lnTo>
                  <a:lnTo>
                    <a:pt x="3730237" y="0"/>
                  </a:lnTo>
                  <a:lnTo>
                    <a:pt x="0" y="0"/>
                  </a:lnTo>
                  <a:close/>
                  <a:moveTo>
                    <a:pt x="3669277" y="2875770"/>
                  </a:moveTo>
                  <a:lnTo>
                    <a:pt x="59690" y="2875770"/>
                  </a:lnTo>
                  <a:lnTo>
                    <a:pt x="59690" y="59690"/>
                  </a:lnTo>
                  <a:lnTo>
                    <a:pt x="3669277" y="59690"/>
                  </a:lnTo>
                  <a:lnTo>
                    <a:pt x="3669277" y="28757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 descr="a red paint splotch"/>
          <p:cNvSpPr/>
          <p:nvPr/>
        </p:nvSpPr>
        <p:spPr>
          <a:xfrm rot="-86879">
            <a:off x="30041" y="5070442"/>
            <a:ext cx="9149632" cy="2493275"/>
          </a:xfrm>
          <a:custGeom>
            <a:avLst/>
            <a:gdLst/>
            <a:ahLst/>
            <a:cxnLst/>
            <a:rect l="l" t="t" r="r" b="b"/>
            <a:pathLst>
              <a:path w="9149632" h="2493275">
                <a:moveTo>
                  <a:pt x="0" y="0"/>
                </a:moveTo>
                <a:lnTo>
                  <a:pt x="9149632" y="0"/>
                </a:lnTo>
                <a:lnTo>
                  <a:pt x="9149632" y="2493274"/>
                </a:lnTo>
                <a:lnTo>
                  <a:pt x="0" y="2493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534466" y="3719563"/>
            <a:ext cx="6757033" cy="1194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7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Mục tiêu đề tài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00750" y="2125543"/>
            <a:ext cx="6856957" cy="2373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Trải nghiệm người dùng: </a:t>
            </a:r>
          </a:p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 kiếm linh hoạt (bộ lọc săn mây, BBQ), hình ảnh trực quan.</a:t>
            </a:r>
          </a:p>
          <a:p>
            <a:pPr marL="0" lvl="0" indent="0" algn="l">
              <a:lnSpc>
                <a:spcPts val="4680"/>
              </a:lnSpc>
              <a:spcBef>
                <a:spcPct val="0"/>
              </a:spcBef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400750" y="4201478"/>
            <a:ext cx="7203967" cy="2373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 b="1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Giao dịch an toàn:</a:t>
            </a:r>
            <a:r>
              <a:rPr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Chốt đơn mượt mà, thanh toán VietQR động, chính sách hoàn tiền linh hoạt.</a:t>
            </a:r>
          </a:p>
          <a:p>
            <a:pPr marL="0" lvl="0" indent="0" algn="l">
              <a:lnSpc>
                <a:spcPts val="4680"/>
              </a:lnSpc>
              <a:spcBef>
                <a:spcPct val="0"/>
              </a:spcBef>
            </a:pPr>
            <a:endParaRPr lang="en-US" sz="36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400750" y="6259929"/>
            <a:ext cx="6559587" cy="2373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Công nghệ hiện đại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Giải quyết triệt để bài toán tranh chấp dữ liệu (Race Condition).</a:t>
            </a:r>
          </a:p>
          <a:p>
            <a:pPr marL="0" lvl="0" indent="0" algn="l">
              <a:lnSpc>
                <a:spcPts val="4680"/>
              </a:lnSpc>
              <a:spcBef>
                <a:spcPct val="0"/>
              </a:spcBef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486693" y="2087443"/>
            <a:ext cx="473136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86693" y="4163378"/>
            <a:ext cx="473136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86693" y="6206490"/>
            <a:ext cx="473136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  <p:sp>
        <p:nvSpPr>
          <p:cNvPr id="13" name="Freeform 13"/>
          <p:cNvSpPr/>
          <p:nvPr/>
        </p:nvSpPr>
        <p:spPr>
          <a:xfrm>
            <a:off x="221344" y="84525"/>
            <a:ext cx="1850813" cy="1399040"/>
          </a:xfrm>
          <a:custGeom>
            <a:avLst/>
            <a:gdLst/>
            <a:ahLst/>
            <a:cxnLst/>
            <a:rect l="l" t="t" r="r" b="b"/>
            <a:pathLst>
              <a:path w="1850813" h="1399040">
                <a:moveTo>
                  <a:pt x="0" y="0"/>
                </a:moveTo>
                <a:lnTo>
                  <a:pt x="1850814" y="0"/>
                </a:lnTo>
                <a:lnTo>
                  <a:pt x="1850814" y="1399040"/>
                </a:lnTo>
                <a:lnTo>
                  <a:pt x="0" y="139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2072158" y="525600"/>
            <a:ext cx="7651103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CÔNG NGHỆ SÀI GÒN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72192" y="525600"/>
            <a:ext cx="6087108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KHOA CÔNG NGHỆ THÔNG TIN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red paint splotch"/>
          <p:cNvSpPr/>
          <p:nvPr/>
        </p:nvSpPr>
        <p:spPr>
          <a:xfrm rot="-9849622">
            <a:off x="-3140742" y="-4148774"/>
            <a:ext cx="17695673" cy="9445066"/>
          </a:xfrm>
          <a:custGeom>
            <a:avLst/>
            <a:gdLst/>
            <a:ahLst/>
            <a:cxnLst/>
            <a:rect l="l" t="t" r="r" b="b"/>
            <a:pathLst>
              <a:path w="17695673" h="9445066">
                <a:moveTo>
                  <a:pt x="0" y="0"/>
                </a:moveTo>
                <a:lnTo>
                  <a:pt x="17695673" y="0"/>
                </a:lnTo>
                <a:lnTo>
                  <a:pt x="17695673" y="9445066"/>
                </a:lnTo>
                <a:lnTo>
                  <a:pt x="0" y="9445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66486" y="2384803"/>
            <a:ext cx="9481217" cy="222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Phạm vi &amp; Thách thức</a:t>
            </a:r>
          </a:p>
          <a:p>
            <a:pPr algn="l">
              <a:lnSpc>
                <a:spcPts val="8640"/>
              </a:lnSpc>
            </a:pPr>
            <a:endParaRPr lang="en-US" sz="72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644681" y="5143500"/>
            <a:ext cx="4896228" cy="2659634"/>
            <a:chOff x="0" y="0"/>
            <a:chExt cx="6528305" cy="3546179"/>
          </a:xfrm>
        </p:grpSpPr>
        <p:sp>
          <p:nvSpPr>
            <p:cNvPr id="5" name="TextBox 5"/>
            <p:cNvSpPr txBox="1"/>
            <p:nvPr/>
          </p:nvSpPr>
          <p:spPr>
            <a:xfrm>
              <a:off x="0" y="-57150"/>
              <a:ext cx="6528305" cy="759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sz="35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Phạm vi: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07568"/>
              <a:ext cx="6528305" cy="2438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Tập trung vào homestay, khách sạn vừa/nhỏ tại TP. Bảo Lộc. (Không bao gồm quản lý nhân sự/kho).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699204" y="5086350"/>
            <a:ext cx="5346616" cy="115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Thách thức cốt lõi:</a:t>
            </a:r>
          </a:p>
          <a:p>
            <a:pPr algn="l">
              <a:lnSpc>
                <a:spcPts val="4550"/>
              </a:lnSpc>
            </a:pPr>
            <a:endParaRPr lang="en-US" sz="35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408089" y="5901908"/>
            <a:ext cx="4966076" cy="321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4" lvl="1" indent="-302262" algn="l">
              <a:lnSpc>
                <a:spcPts val="364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Đồng bộ trạng thái phòng liên tục.</a:t>
            </a:r>
          </a:p>
          <a:p>
            <a:pPr marL="604524" lvl="1" indent="-302262" algn="l">
              <a:lnSpc>
                <a:spcPts val="364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Bảo mật dữ liệu (Băm mật khẩu, mã hóa truyền tải).</a:t>
            </a:r>
          </a:p>
          <a:p>
            <a:pPr marL="604524" lvl="1" indent="-302262" algn="l">
              <a:lnSpc>
                <a:spcPts val="364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Cấu trúc dữ liệu mở rộng linh hoạt.</a:t>
            </a:r>
          </a:p>
          <a:p>
            <a:pPr algn="l">
              <a:lnSpc>
                <a:spcPts val="3640"/>
              </a:lnSpc>
            </a:pPr>
            <a:endParaRPr lang="en-US"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  <p:sp>
        <p:nvSpPr>
          <p:cNvPr id="10" name="Freeform 10"/>
          <p:cNvSpPr/>
          <p:nvPr/>
        </p:nvSpPr>
        <p:spPr>
          <a:xfrm>
            <a:off x="221344" y="84525"/>
            <a:ext cx="1850813" cy="1399040"/>
          </a:xfrm>
          <a:custGeom>
            <a:avLst/>
            <a:gdLst/>
            <a:ahLst/>
            <a:cxnLst/>
            <a:rect l="l" t="t" r="r" b="b"/>
            <a:pathLst>
              <a:path w="1850813" h="1399040">
                <a:moveTo>
                  <a:pt x="0" y="0"/>
                </a:moveTo>
                <a:lnTo>
                  <a:pt x="1850814" y="0"/>
                </a:lnTo>
                <a:lnTo>
                  <a:pt x="1850814" y="1399040"/>
                </a:lnTo>
                <a:lnTo>
                  <a:pt x="0" y="139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2072158" y="525600"/>
            <a:ext cx="7651103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CÔNG NGHỆ SÀI GÒN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72192" y="525600"/>
            <a:ext cx="6087108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KHOA CÔNG NGHỆ THÔNG TIN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green paint splotch"/>
          <p:cNvSpPr/>
          <p:nvPr/>
        </p:nvSpPr>
        <p:spPr>
          <a:xfrm>
            <a:off x="-3155936" y="-3379127"/>
            <a:ext cx="20413477" cy="8522627"/>
          </a:xfrm>
          <a:custGeom>
            <a:avLst/>
            <a:gdLst/>
            <a:ahLst/>
            <a:cxnLst/>
            <a:rect l="l" t="t" r="r" b="b"/>
            <a:pathLst>
              <a:path w="20413477" h="8522627">
                <a:moveTo>
                  <a:pt x="0" y="0"/>
                </a:moveTo>
                <a:lnTo>
                  <a:pt x="20413477" y="0"/>
                </a:lnTo>
                <a:lnTo>
                  <a:pt x="20413477" y="8522627"/>
                </a:lnTo>
                <a:lnTo>
                  <a:pt x="0" y="85226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53112" y="2177913"/>
            <a:ext cx="8694867" cy="1997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84"/>
              </a:lnSpc>
            </a:pPr>
            <a:r>
              <a:rPr lang="en-US" sz="648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Kiến trúc &amp; Công nghệ</a:t>
            </a:r>
          </a:p>
          <a:p>
            <a:pPr algn="l">
              <a:lnSpc>
                <a:spcPts val="7784"/>
              </a:lnSpc>
            </a:pPr>
            <a:endParaRPr lang="en-US" sz="6486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28700" y="4898049"/>
            <a:ext cx="5735177" cy="1274763"/>
            <a:chOff x="0" y="0"/>
            <a:chExt cx="7646903" cy="1699684"/>
          </a:xfrm>
        </p:grpSpPr>
        <p:sp>
          <p:nvSpPr>
            <p:cNvPr id="5" name="TextBox 5"/>
            <p:cNvSpPr txBox="1"/>
            <p:nvPr/>
          </p:nvSpPr>
          <p:spPr>
            <a:xfrm>
              <a:off x="0" y="-57150"/>
              <a:ext cx="7646903" cy="783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Frontend: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16094"/>
              <a:ext cx="7646903" cy="783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ReactJS (Giao diện mượt mà).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7683083"/>
            <a:ext cx="6967139" cy="1865313"/>
            <a:chOff x="0" y="0"/>
            <a:chExt cx="9289519" cy="2487084"/>
          </a:xfrm>
        </p:grpSpPr>
        <p:sp>
          <p:nvSpPr>
            <p:cNvPr id="8" name="TextBox 8"/>
            <p:cNvSpPr txBox="1"/>
            <p:nvPr/>
          </p:nvSpPr>
          <p:spPr>
            <a:xfrm>
              <a:off x="0" y="-57150"/>
              <a:ext cx="8119765" cy="783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Database: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916094"/>
              <a:ext cx="9289519" cy="1570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SQL SERVER MANAGEGEMENT</a:t>
              </a:r>
            </a:p>
            <a:p>
              <a:pPr algn="l">
                <a:lnSpc>
                  <a:spcPts val="468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(QLKhachsanBaoLoc)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0" y="4898049"/>
            <a:ext cx="6123686" cy="1865313"/>
            <a:chOff x="0" y="0"/>
            <a:chExt cx="8164915" cy="248708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57150"/>
              <a:ext cx="8164915" cy="783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Backend: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16094"/>
              <a:ext cx="8164915" cy="1570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Node.js, ExpressJS (Xử lý giao dịch đồng thời).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0" y="7683083"/>
            <a:ext cx="4976687" cy="1265292"/>
            <a:chOff x="0" y="0"/>
            <a:chExt cx="6635582" cy="168705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57150"/>
              <a:ext cx="6635582" cy="783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Bảo mật: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16094"/>
              <a:ext cx="6635582" cy="783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JWT Session, Bcrypt.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  <p:sp>
        <p:nvSpPr>
          <p:cNvPr id="17" name="Freeform 17"/>
          <p:cNvSpPr/>
          <p:nvPr/>
        </p:nvSpPr>
        <p:spPr>
          <a:xfrm>
            <a:off x="221344" y="84525"/>
            <a:ext cx="1850813" cy="1399040"/>
          </a:xfrm>
          <a:custGeom>
            <a:avLst/>
            <a:gdLst/>
            <a:ahLst/>
            <a:cxnLst/>
            <a:rect l="l" t="t" r="r" b="b"/>
            <a:pathLst>
              <a:path w="1850813" h="1399040">
                <a:moveTo>
                  <a:pt x="0" y="0"/>
                </a:moveTo>
                <a:lnTo>
                  <a:pt x="1850814" y="0"/>
                </a:lnTo>
                <a:lnTo>
                  <a:pt x="1850814" y="1399040"/>
                </a:lnTo>
                <a:lnTo>
                  <a:pt x="0" y="139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2072158" y="525600"/>
            <a:ext cx="7651103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CÔNG NGHỆ SÀI GÒN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172192" y="525600"/>
            <a:ext cx="6087108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KHOA CÔNG NGHỆ THÔNG TIN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1344" y="84525"/>
            <a:ext cx="1850813" cy="1399040"/>
          </a:xfrm>
          <a:custGeom>
            <a:avLst/>
            <a:gdLst/>
            <a:ahLst/>
            <a:cxnLst/>
            <a:rect l="l" t="t" r="r" b="b"/>
            <a:pathLst>
              <a:path w="1850813" h="1399040">
                <a:moveTo>
                  <a:pt x="0" y="0"/>
                </a:moveTo>
                <a:lnTo>
                  <a:pt x="1850814" y="0"/>
                </a:lnTo>
                <a:lnTo>
                  <a:pt x="1850814" y="1399040"/>
                </a:lnTo>
                <a:lnTo>
                  <a:pt x="0" y="1399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458240" y="7155829"/>
            <a:ext cx="1746500" cy="1139214"/>
            <a:chOff x="0" y="0"/>
            <a:chExt cx="459983" cy="3000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9983" cy="300040"/>
            </a:xfrm>
            <a:custGeom>
              <a:avLst/>
              <a:gdLst/>
              <a:ahLst/>
              <a:cxnLst/>
              <a:rect l="l" t="t" r="r" b="b"/>
              <a:pathLst>
                <a:path w="459983" h="300040">
                  <a:moveTo>
                    <a:pt x="0" y="0"/>
                  </a:moveTo>
                  <a:lnTo>
                    <a:pt x="459983" y="0"/>
                  </a:lnTo>
                  <a:lnTo>
                    <a:pt x="459983" y="300040"/>
                  </a:lnTo>
                  <a:lnTo>
                    <a:pt x="0" y="300040"/>
                  </a:lnTo>
                  <a:close/>
                </a:path>
              </a:pathLst>
            </a:custGeom>
            <a:ln w="38100" cap="sq">
              <a:solidFill>
                <a:srgbClr val="FF776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59983" cy="347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21344" y="1997906"/>
            <a:ext cx="16874556" cy="8036507"/>
          </a:xfrm>
          <a:custGeom>
            <a:avLst/>
            <a:gdLst/>
            <a:ahLst/>
            <a:cxnLst/>
            <a:rect l="l" t="t" r="r" b="b"/>
            <a:pathLst>
              <a:path w="16874556" h="8036507">
                <a:moveTo>
                  <a:pt x="0" y="0"/>
                </a:moveTo>
                <a:lnTo>
                  <a:pt x="16874556" y="0"/>
                </a:lnTo>
                <a:lnTo>
                  <a:pt x="16874556" y="8036507"/>
                </a:lnTo>
                <a:lnTo>
                  <a:pt x="0" y="8036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518980" y="1148224"/>
            <a:ext cx="640856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Sơ đồ Thực thể Liên kết - ERD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72158" y="525600"/>
            <a:ext cx="7651103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CÔNG NGHỆ SÀI GÒN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72192" y="525600"/>
            <a:ext cx="6087108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KHOA CÔNG NGHỆ THÔNG TIN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458240" y="7155829"/>
            <a:ext cx="1746500" cy="1139214"/>
            <a:chOff x="0" y="0"/>
            <a:chExt cx="459983" cy="3000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9983" cy="300040"/>
            </a:xfrm>
            <a:custGeom>
              <a:avLst/>
              <a:gdLst/>
              <a:ahLst/>
              <a:cxnLst/>
              <a:rect l="l" t="t" r="r" b="b"/>
              <a:pathLst>
                <a:path w="459983" h="300040">
                  <a:moveTo>
                    <a:pt x="0" y="0"/>
                  </a:moveTo>
                  <a:lnTo>
                    <a:pt x="459983" y="0"/>
                  </a:lnTo>
                  <a:lnTo>
                    <a:pt x="459983" y="300040"/>
                  </a:lnTo>
                  <a:lnTo>
                    <a:pt x="0" y="300040"/>
                  </a:lnTo>
                  <a:close/>
                </a:path>
              </a:pathLst>
            </a:custGeom>
            <a:ln w="38100" cap="sq">
              <a:solidFill>
                <a:srgbClr val="FF776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59983" cy="347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129857" y="1997906"/>
            <a:ext cx="2559962" cy="1522120"/>
            <a:chOff x="0" y="0"/>
            <a:chExt cx="674229" cy="4008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4229" cy="400888"/>
            </a:xfrm>
            <a:custGeom>
              <a:avLst/>
              <a:gdLst/>
              <a:ahLst/>
              <a:cxnLst/>
              <a:rect l="l" t="t" r="r" b="b"/>
              <a:pathLst>
                <a:path w="674229" h="400888">
                  <a:moveTo>
                    <a:pt x="0" y="0"/>
                  </a:moveTo>
                  <a:lnTo>
                    <a:pt x="674229" y="0"/>
                  </a:lnTo>
                  <a:lnTo>
                    <a:pt x="674229" y="400888"/>
                  </a:lnTo>
                  <a:lnTo>
                    <a:pt x="0" y="400888"/>
                  </a:lnTo>
                  <a:close/>
                </a:path>
              </a:pathLst>
            </a:custGeom>
            <a:ln w="38100" cap="sq">
              <a:solidFill>
                <a:srgbClr val="FF776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74229" cy="4485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218694" y="4467880"/>
            <a:ext cx="3090415" cy="2166242"/>
            <a:chOff x="0" y="0"/>
            <a:chExt cx="813937" cy="57053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3937" cy="570533"/>
            </a:xfrm>
            <a:custGeom>
              <a:avLst/>
              <a:gdLst/>
              <a:ahLst/>
              <a:cxnLst/>
              <a:rect l="l" t="t" r="r" b="b"/>
              <a:pathLst>
                <a:path w="813937" h="570533">
                  <a:moveTo>
                    <a:pt x="0" y="0"/>
                  </a:moveTo>
                  <a:lnTo>
                    <a:pt x="813937" y="0"/>
                  </a:lnTo>
                  <a:lnTo>
                    <a:pt x="813937" y="570533"/>
                  </a:lnTo>
                  <a:lnTo>
                    <a:pt x="0" y="570533"/>
                  </a:lnTo>
                  <a:close/>
                </a:path>
              </a:pathLst>
            </a:custGeom>
            <a:ln w="38100" cap="sq">
              <a:solidFill>
                <a:srgbClr val="FF776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813937" cy="618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1344" y="84525"/>
            <a:ext cx="1850813" cy="1399040"/>
          </a:xfrm>
          <a:custGeom>
            <a:avLst/>
            <a:gdLst/>
            <a:ahLst/>
            <a:cxnLst/>
            <a:rect l="l" t="t" r="r" b="b"/>
            <a:pathLst>
              <a:path w="1850813" h="1399040">
                <a:moveTo>
                  <a:pt x="0" y="0"/>
                </a:moveTo>
                <a:lnTo>
                  <a:pt x="1850814" y="0"/>
                </a:lnTo>
                <a:lnTo>
                  <a:pt x="1850814" y="1399040"/>
                </a:lnTo>
                <a:lnTo>
                  <a:pt x="0" y="1399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016960" y="2854078"/>
            <a:ext cx="7373471" cy="6404222"/>
          </a:xfrm>
          <a:custGeom>
            <a:avLst/>
            <a:gdLst/>
            <a:ahLst/>
            <a:cxnLst/>
            <a:rect l="l" t="t" r="r" b="b"/>
            <a:pathLst>
              <a:path w="7373471" h="6404222">
                <a:moveTo>
                  <a:pt x="0" y="0"/>
                </a:moveTo>
                <a:lnTo>
                  <a:pt x="7373471" y="0"/>
                </a:lnTo>
                <a:lnTo>
                  <a:pt x="7373471" y="6404222"/>
                </a:lnTo>
                <a:lnTo>
                  <a:pt x="0" y="6404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863178" y="2854078"/>
            <a:ext cx="5055258" cy="6404222"/>
          </a:xfrm>
          <a:custGeom>
            <a:avLst/>
            <a:gdLst/>
            <a:ahLst/>
            <a:cxnLst/>
            <a:rect l="l" t="t" r="r" b="b"/>
            <a:pathLst>
              <a:path w="5055258" h="6404222">
                <a:moveTo>
                  <a:pt x="0" y="0"/>
                </a:moveTo>
                <a:lnTo>
                  <a:pt x="5055258" y="0"/>
                </a:lnTo>
                <a:lnTo>
                  <a:pt x="5055258" y="6404222"/>
                </a:lnTo>
                <a:lnTo>
                  <a:pt x="0" y="64042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14" t="-658" r="-18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72158" y="525600"/>
            <a:ext cx="7651103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CÔNG NGHỆ SÀI GÒN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72192" y="525600"/>
            <a:ext cx="6087108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KHOA CÔNG NGHỆ THÔNG TIN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9529" y="3288962"/>
            <a:ext cx="4084987" cy="591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 spc="1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Lọc phòng thông minh theo tiện ích đặc thù.</a:t>
            </a:r>
          </a:p>
          <a:p>
            <a:pPr algn="l">
              <a:lnSpc>
                <a:spcPts val="4680"/>
              </a:lnSpc>
            </a:pPr>
            <a:endParaRPr lang="en-US" sz="3600" spc="1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680"/>
              </a:lnSpc>
            </a:pPr>
            <a:r>
              <a:rPr lang="en-US" sz="3600" spc="1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Thanh toán bằng mã VietQR động.</a:t>
            </a:r>
          </a:p>
          <a:p>
            <a:pPr algn="l">
              <a:lnSpc>
                <a:spcPts val="4680"/>
              </a:lnSpc>
            </a:pPr>
            <a:endParaRPr lang="en-US" sz="3600" spc="1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680"/>
              </a:lnSpc>
            </a:pPr>
            <a:r>
              <a:rPr lang="en-US" sz="3600" spc="1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 lý lịch sử và tương tác/đánh giá minh bạch.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9529" y="1839257"/>
            <a:ext cx="9420129" cy="601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600" b="1" u="sng" spc="11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CHỨC NĂNG CỐT LÕI - KHÁCH HÀNG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1344" y="84525"/>
            <a:ext cx="1850813" cy="1399040"/>
          </a:xfrm>
          <a:custGeom>
            <a:avLst/>
            <a:gdLst/>
            <a:ahLst/>
            <a:cxnLst/>
            <a:rect l="l" t="t" r="r" b="b"/>
            <a:pathLst>
              <a:path w="1850813" h="1399040">
                <a:moveTo>
                  <a:pt x="0" y="0"/>
                </a:moveTo>
                <a:lnTo>
                  <a:pt x="1850814" y="0"/>
                </a:lnTo>
                <a:lnTo>
                  <a:pt x="1850814" y="1399040"/>
                </a:lnTo>
                <a:lnTo>
                  <a:pt x="0" y="1399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594516" y="2766167"/>
            <a:ext cx="13317196" cy="6492133"/>
          </a:xfrm>
          <a:custGeom>
            <a:avLst/>
            <a:gdLst/>
            <a:ahLst/>
            <a:cxnLst/>
            <a:rect l="l" t="t" r="r" b="b"/>
            <a:pathLst>
              <a:path w="13317196" h="6492133">
                <a:moveTo>
                  <a:pt x="0" y="0"/>
                </a:moveTo>
                <a:lnTo>
                  <a:pt x="13317196" y="0"/>
                </a:lnTo>
                <a:lnTo>
                  <a:pt x="13317196" y="6492133"/>
                </a:lnTo>
                <a:lnTo>
                  <a:pt x="0" y="64921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72158" y="525600"/>
            <a:ext cx="7651103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CÔNG NGHỆ SÀI GÒN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72192" y="525600"/>
            <a:ext cx="6087108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KHOA CÔNG NGHỆ THÔNG TIN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9529" y="3288962"/>
            <a:ext cx="4084987" cy="6507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 spc="1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Giao diện quản trị chuyên nghiệp (Dashboard).</a:t>
            </a:r>
          </a:p>
          <a:p>
            <a:pPr algn="l">
              <a:lnSpc>
                <a:spcPts val="4680"/>
              </a:lnSpc>
            </a:pPr>
            <a:endParaRPr lang="en-US" sz="3600" spc="1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680"/>
              </a:lnSpc>
            </a:pPr>
            <a:r>
              <a:rPr lang="en-US" sz="3600" spc="1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Kiểm soát đơn hàng, đối chiếu doanh thu.</a:t>
            </a:r>
          </a:p>
          <a:p>
            <a:pPr algn="l">
              <a:lnSpc>
                <a:spcPts val="4680"/>
              </a:lnSpc>
            </a:pPr>
            <a:endParaRPr lang="en-US" sz="3600" spc="1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680"/>
              </a:lnSpc>
            </a:pPr>
            <a:r>
              <a:rPr lang="en-US" sz="3600" spc="1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 dõi và giải quyết phản hồi từ khách hàng.</a:t>
            </a:r>
          </a:p>
          <a:p>
            <a:pPr algn="l">
              <a:lnSpc>
                <a:spcPts val="4680"/>
              </a:lnSpc>
            </a:pPr>
            <a:endParaRPr lang="en-US" sz="3600" spc="1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09529" y="1839257"/>
            <a:ext cx="10885740" cy="601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600" b="1" u="sng" spc="11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CHỨC NĂNG CỐT LÕI - QUẢN TRỊ (ADMIN)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yellow paint splotch"/>
          <p:cNvSpPr/>
          <p:nvPr/>
        </p:nvSpPr>
        <p:spPr>
          <a:xfrm rot="-9345981">
            <a:off x="-2115830" y="7115380"/>
            <a:ext cx="8049535" cy="5961687"/>
          </a:xfrm>
          <a:custGeom>
            <a:avLst/>
            <a:gdLst/>
            <a:ahLst/>
            <a:cxnLst/>
            <a:rect l="l" t="t" r="r" b="b"/>
            <a:pathLst>
              <a:path w="8049535" h="5961687">
                <a:moveTo>
                  <a:pt x="0" y="0"/>
                </a:moveTo>
                <a:lnTo>
                  <a:pt x="8049535" y="0"/>
                </a:lnTo>
                <a:lnTo>
                  <a:pt x="8049535" y="5961687"/>
                </a:lnTo>
                <a:lnTo>
                  <a:pt x="0" y="5961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 descr="a yellow paint splotch"/>
          <p:cNvSpPr/>
          <p:nvPr/>
        </p:nvSpPr>
        <p:spPr>
          <a:xfrm rot="2200115">
            <a:off x="15063964" y="-1476496"/>
            <a:ext cx="6765086" cy="5010392"/>
          </a:xfrm>
          <a:custGeom>
            <a:avLst/>
            <a:gdLst/>
            <a:ahLst/>
            <a:cxnLst/>
            <a:rect l="l" t="t" r="r" b="b"/>
            <a:pathLst>
              <a:path w="6765086" h="5010392">
                <a:moveTo>
                  <a:pt x="0" y="0"/>
                </a:moveTo>
                <a:lnTo>
                  <a:pt x="6765086" y="0"/>
                </a:lnTo>
                <a:lnTo>
                  <a:pt x="6765086" y="5010392"/>
                </a:lnTo>
                <a:lnTo>
                  <a:pt x="0" y="5010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5488" y="4048622"/>
            <a:ext cx="1677432" cy="1677432"/>
          </a:xfrm>
          <a:custGeom>
            <a:avLst/>
            <a:gdLst/>
            <a:ahLst/>
            <a:cxnLst/>
            <a:rect l="l" t="t" r="r" b="b"/>
            <a:pathLst>
              <a:path w="1677432" h="1677432">
                <a:moveTo>
                  <a:pt x="0" y="0"/>
                </a:moveTo>
                <a:lnTo>
                  <a:pt x="1677432" y="0"/>
                </a:lnTo>
                <a:lnTo>
                  <a:pt x="1677432" y="1677432"/>
                </a:lnTo>
                <a:lnTo>
                  <a:pt x="0" y="1677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2305560" y="2523847"/>
            <a:ext cx="6607360" cy="3244855"/>
            <a:chOff x="0" y="0"/>
            <a:chExt cx="8337402" cy="4094474"/>
          </a:xfrm>
        </p:grpSpPr>
        <p:sp>
          <p:nvSpPr>
            <p:cNvPr id="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337402" cy="4094473"/>
            </a:xfrm>
            <a:custGeom>
              <a:avLst/>
              <a:gdLst/>
              <a:ahLst/>
              <a:cxnLst/>
              <a:rect l="l" t="t" r="r" b="b"/>
              <a:pathLst>
                <a:path w="8337402" h="4094473">
                  <a:moveTo>
                    <a:pt x="0" y="0"/>
                  </a:moveTo>
                  <a:lnTo>
                    <a:pt x="0" y="4094473"/>
                  </a:lnTo>
                  <a:lnTo>
                    <a:pt x="8337402" y="4094473"/>
                  </a:lnTo>
                  <a:lnTo>
                    <a:pt x="8337402" y="0"/>
                  </a:lnTo>
                  <a:lnTo>
                    <a:pt x="0" y="0"/>
                  </a:lnTo>
                  <a:close/>
                  <a:moveTo>
                    <a:pt x="8276441" y="4033513"/>
                  </a:moveTo>
                  <a:lnTo>
                    <a:pt x="59690" y="4033513"/>
                  </a:lnTo>
                  <a:lnTo>
                    <a:pt x="59690" y="59690"/>
                  </a:lnTo>
                  <a:lnTo>
                    <a:pt x="8276441" y="59690"/>
                  </a:lnTo>
                  <a:lnTo>
                    <a:pt x="8276441" y="40335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235488" y="5801335"/>
            <a:ext cx="1677432" cy="1677432"/>
          </a:xfrm>
          <a:custGeom>
            <a:avLst/>
            <a:gdLst/>
            <a:ahLst/>
            <a:cxnLst/>
            <a:rect l="l" t="t" r="r" b="b"/>
            <a:pathLst>
              <a:path w="1677432" h="1677432">
                <a:moveTo>
                  <a:pt x="0" y="1677432"/>
                </a:moveTo>
                <a:lnTo>
                  <a:pt x="1677432" y="1677432"/>
                </a:lnTo>
                <a:lnTo>
                  <a:pt x="1677432" y="0"/>
                </a:lnTo>
                <a:lnTo>
                  <a:pt x="0" y="0"/>
                </a:lnTo>
                <a:lnTo>
                  <a:pt x="0" y="16774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2305560" y="5801335"/>
            <a:ext cx="6607360" cy="3282152"/>
            <a:chOff x="0" y="0"/>
            <a:chExt cx="8337402" cy="4141536"/>
          </a:xfrm>
        </p:grpSpPr>
        <p:sp>
          <p:nvSpPr>
            <p:cNvPr id="9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337402" cy="4141536"/>
            </a:xfrm>
            <a:custGeom>
              <a:avLst/>
              <a:gdLst/>
              <a:ahLst/>
              <a:cxnLst/>
              <a:rect l="l" t="t" r="r" b="b"/>
              <a:pathLst>
                <a:path w="8337402" h="4141536">
                  <a:moveTo>
                    <a:pt x="0" y="0"/>
                  </a:moveTo>
                  <a:lnTo>
                    <a:pt x="0" y="4141536"/>
                  </a:lnTo>
                  <a:lnTo>
                    <a:pt x="8337402" y="4141536"/>
                  </a:lnTo>
                  <a:lnTo>
                    <a:pt x="8337402" y="0"/>
                  </a:lnTo>
                  <a:lnTo>
                    <a:pt x="0" y="0"/>
                  </a:lnTo>
                  <a:close/>
                  <a:moveTo>
                    <a:pt x="8276441" y="4080576"/>
                  </a:moveTo>
                  <a:lnTo>
                    <a:pt x="59690" y="4080576"/>
                  </a:lnTo>
                  <a:lnTo>
                    <a:pt x="59690" y="59690"/>
                  </a:lnTo>
                  <a:lnTo>
                    <a:pt x="8276441" y="59690"/>
                  </a:lnTo>
                  <a:lnTo>
                    <a:pt x="8276441" y="40805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046488" y="4048622"/>
            <a:ext cx="1677432" cy="1677432"/>
          </a:xfrm>
          <a:custGeom>
            <a:avLst/>
            <a:gdLst/>
            <a:ahLst/>
            <a:cxnLst/>
            <a:rect l="l" t="t" r="r" b="b"/>
            <a:pathLst>
              <a:path w="1677432" h="1677432">
                <a:moveTo>
                  <a:pt x="0" y="0"/>
                </a:moveTo>
                <a:lnTo>
                  <a:pt x="1677433" y="0"/>
                </a:lnTo>
                <a:lnTo>
                  <a:pt x="1677433" y="1677432"/>
                </a:lnTo>
                <a:lnTo>
                  <a:pt x="0" y="1677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9046488" y="2532250"/>
            <a:ext cx="6607360" cy="3228049"/>
            <a:chOff x="0" y="0"/>
            <a:chExt cx="8337402" cy="4073266"/>
          </a:xfrm>
        </p:grpSpPr>
        <p:sp>
          <p:nvSpPr>
            <p:cNvPr id="12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337402" cy="4073266"/>
            </a:xfrm>
            <a:custGeom>
              <a:avLst/>
              <a:gdLst/>
              <a:ahLst/>
              <a:cxnLst/>
              <a:rect l="l" t="t" r="r" b="b"/>
              <a:pathLst>
                <a:path w="8337402" h="4073266">
                  <a:moveTo>
                    <a:pt x="0" y="0"/>
                  </a:moveTo>
                  <a:lnTo>
                    <a:pt x="0" y="4073266"/>
                  </a:lnTo>
                  <a:lnTo>
                    <a:pt x="8337402" y="4073266"/>
                  </a:lnTo>
                  <a:lnTo>
                    <a:pt x="8337402" y="0"/>
                  </a:lnTo>
                  <a:lnTo>
                    <a:pt x="0" y="0"/>
                  </a:lnTo>
                  <a:close/>
                  <a:moveTo>
                    <a:pt x="8276441" y="4012306"/>
                  </a:moveTo>
                  <a:lnTo>
                    <a:pt x="59690" y="4012306"/>
                  </a:lnTo>
                  <a:lnTo>
                    <a:pt x="59690" y="59690"/>
                  </a:lnTo>
                  <a:lnTo>
                    <a:pt x="8276441" y="59690"/>
                  </a:lnTo>
                  <a:lnTo>
                    <a:pt x="8276441" y="40123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9046488" y="5801335"/>
            <a:ext cx="1677432" cy="1677432"/>
          </a:xfrm>
          <a:custGeom>
            <a:avLst/>
            <a:gdLst/>
            <a:ahLst/>
            <a:cxnLst/>
            <a:rect l="l" t="t" r="r" b="b"/>
            <a:pathLst>
              <a:path w="1677432" h="1677432">
                <a:moveTo>
                  <a:pt x="1677433" y="0"/>
                </a:moveTo>
                <a:lnTo>
                  <a:pt x="0" y="0"/>
                </a:lnTo>
                <a:lnTo>
                  <a:pt x="0" y="1677432"/>
                </a:lnTo>
                <a:lnTo>
                  <a:pt x="1677433" y="1677432"/>
                </a:lnTo>
                <a:lnTo>
                  <a:pt x="167743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9046488" y="5801335"/>
            <a:ext cx="6607360" cy="3282152"/>
            <a:chOff x="0" y="0"/>
            <a:chExt cx="8337402" cy="4141536"/>
          </a:xfrm>
        </p:grpSpPr>
        <p:sp>
          <p:nvSpPr>
            <p:cNvPr id="15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337402" cy="4141536"/>
            </a:xfrm>
            <a:custGeom>
              <a:avLst/>
              <a:gdLst/>
              <a:ahLst/>
              <a:cxnLst/>
              <a:rect l="l" t="t" r="r" b="b"/>
              <a:pathLst>
                <a:path w="8337402" h="4141536">
                  <a:moveTo>
                    <a:pt x="0" y="0"/>
                  </a:moveTo>
                  <a:lnTo>
                    <a:pt x="0" y="4141536"/>
                  </a:lnTo>
                  <a:lnTo>
                    <a:pt x="8337402" y="4141536"/>
                  </a:lnTo>
                  <a:lnTo>
                    <a:pt x="8337402" y="0"/>
                  </a:lnTo>
                  <a:lnTo>
                    <a:pt x="0" y="0"/>
                  </a:lnTo>
                  <a:close/>
                  <a:moveTo>
                    <a:pt x="8276441" y="4080576"/>
                  </a:moveTo>
                  <a:lnTo>
                    <a:pt x="59690" y="4080576"/>
                  </a:lnTo>
                  <a:lnTo>
                    <a:pt x="59690" y="59690"/>
                  </a:lnTo>
                  <a:lnTo>
                    <a:pt x="8276441" y="59690"/>
                  </a:lnTo>
                  <a:lnTo>
                    <a:pt x="8276441" y="40805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552294" y="2626673"/>
            <a:ext cx="5683746" cy="2516827"/>
            <a:chOff x="0" y="0"/>
            <a:chExt cx="7578328" cy="3355769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28575"/>
              <a:ext cx="7578328" cy="752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Chịu tải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97379"/>
              <a:ext cx="7578328" cy="2358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Chưa kiểm thử chịu tải (Load testing) với dữ liệu cực lớn.</a:t>
              </a:r>
            </a:p>
            <a:p>
              <a:pPr algn="l">
                <a:lnSpc>
                  <a:spcPts val="4680"/>
                </a:lnSpc>
              </a:pPr>
              <a:endPara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552294" y="5988935"/>
            <a:ext cx="5111492" cy="3094552"/>
            <a:chOff x="0" y="0"/>
            <a:chExt cx="6815323" cy="412607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3373595"/>
              <a:ext cx="5897469" cy="752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Giao tiếp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6815323" cy="314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Giao tiếp và thông báo chưa theo thời gian thực (Real-time).</a:t>
              </a:r>
            </a:p>
            <a:p>
              <a:pPr algn="l">
                <a:lnSpc>
                  <a:spcPts val="4680"/>
                </a:lnSpc>
              </a:pPr>
              <a:endPara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98597" y="7239516"/>
            <a:ext cx="5108481" cy="1880327"/>
            <a:chOff x="0" y="0"/>
            <a:chExt cx="6811308" cy="2507102"/>
          </a:xfrm>
        </p:grpSpPr>
        <p:sp>
          <p:nvSpPr>
            <p:cNvPr id="23" name="TextBox 23"/>
            <p:cNvSpPr txBox="1"/>
            <p:nvPr/>
          </p:nvSpPr>
          <p:spPr>
            <a:xfrm>
              <a:off x="1104441" y="1754627"/>
              <a:ext cx="5706866" cy="752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4320"/>
                </a:lnSpc>
              </a:pPr>
              <a:r>
                <a:rPr lang="en-US" sz="3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Bản đồ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6811308" cy="1570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468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Thiếu bản đồ số trực quan.</a:t>
              </a:r>
            </a:p>
            <a:p>
              <a:pPr algn="r">
                <a:lnSpc>
                  <a:spcPts val="4680"/>
                </a:lnSpc>
              </a:pPr>
              <a:endPara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23260" y="2626673"/>
            <a:ext cx="5683817" cy="2502331"/>
            <a:chOff x="0" y="0"/>
            <a:chExt cx="7578423" cy="3336442"/>
          </a:xfrm>
        </p:grpSpPr>
        <p:sp>
          <p:nvSpPr>
            <p:cNvPr id="26" name="TextBox 26"/>
            <p:cNvSpPr txBox="1"/>
            <p:nvPr/>
          </p:nvSpPr>
          <p:spPr>
            <a:xfrm>
              <a:off x="638266" y="-28575"/>
              <a:ext cx="6940157" cy="752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4320"/>
                </a:lnSpc>
              </a:pPr>
              <a:r>
                <a:rPr lang="en-US" sz="3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Thanh toán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978052"/>
              <a:ext cx="7578423" cy="2358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4680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Thanh toán vẫn xử lý bán thủ công, thiếu VNPay/MoMo.</a:t>
              </a:r>
            </a:p>
            <a:p>
              <a:pPr algn="r">
                <a:lnSpc>
                  <a:spcPts val="4680"/>
                </a:lnSpc>
              </a:pPr>
              <a:endPara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  <p:sp>
        <p:nvSpPr>
          <p:cNvPr id="29" name="Freeform 29"/>
          <p:cNvSpPr/>
          <p:nvPr/>
        </p:nvSpPr>
        <p:spPr>
          <a:xfrm>
            <a:off x="221344" y="84525"/>
            <a:ext cx="1850813" cy="1399040"/>
          </a:xfrm>
          <a:custGeom>
            <a:avLst/>
            <a:gdLst/>
            <a:ahLst/>
            <a:cxnLst/>
            <a:rect l="l" t="t" r="r" b="b"/>
            <a:pathLst>
              <a:path w="1850813" h="1399040">
                <a:moveTo>
                  <a:pt x="0" y="0"/>
                </a:moveTo>
                <a:lnTo>
                  <a:pt x="1850814" y="0"/>
                </a:lnTo>
                <a:lnTo>
                  <a:pt x="1850814" y="1399040"/>
                </a:lnTo>
                <a:lnTo>
                  <a:pt x="0" y="13990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2072158" y="525600"/>
            <a:ext cx="7651103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CÔNG NGHỆ SÀI GÒN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172192" y="525600"/>
            <a:ext cx="6087108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KHOA CÔNG NGHỆ THÔNG TIN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305560" y="1612519"/>
            <a:ext cx="4929928" cy="601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60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VẤN ĐỀ TỒN ĐỌNG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yellow paint splotch"/>
          <p:cNvSpPr/>
          <p:nvPr/>
        </p:nvSpPr>
        <p:spPr>
          <a:xfrm rot="-9345981">
            <a:off x="-2115830" y="7115380"/>
            <a:ext cx="8049535" cy="5961687"/>
          </a:xfrm>
          <a:custGeom>
            <a:avLst/>
            <a:gdLst/>
            <a:ahLst/>
            <a:cxnLst/>
            <a:rect l="l" t="t" r="r" b="b"/>
            <a:pathLst>
              <a:path w="8049535" h="5961687">
                <a:moveTo>
                  <a:pt x="0" y="0"/>
                </a:moveTo>
                <a:lnTo>
                  <a:pt x="8049535" y="0"/>
                </a:lnTo>
                <a:lnTo>
                  <a:pt x="8049535" y="5961687"/>
                </a:lnTo>
                <a:lnTo>
                  <a:pt x="0" y="5961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 descr="a yellow paint splotch"/>
          <p:cNvSpPr/>
          <p:nvPr/>
        </p:nvSpPr>
        <p:spPr>
          <a:xfrm rot="2200115">
            <a:off x="15063964" y="-1476496"/>
            <a:ext cx="6765086" cy="5010392"/>
          </a:xfrm>
          <a:custGeom>
            <a:avLst/>
            <a:gdLst/>
            <a:ahLst/>
            <a:cxnLst/>
            <a:rect l="l" t="t" r="r" b="b"/>
            <a:pathLst>
              <a:path w="6765086" h="5010392">
                <a:moveTo>
                  <a:pt x="0" y="0"/>
                </a:moveTo>
                <a:lnTo>
                  <a:pt x="6765086" y="0"/>
                </a:lnTo>
                <a:lnTo>
                  <a:pt x="6765086" y="5010392"/>
                </a:lnTo>
                <a:lnTo>
                  <a:pt x="0" y="5010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5488" y="4048622"/>
            <a:ext cx="1677432" cy="1677432"/>
          </a:xfrm>
          <a:custGeom>
            <a:avLst/>
            <a:gdLst/>
            <a:ahLst/>
            <a:cxnLst/>
            <a:rect l="l" t="t" r="r" b="b"/>
            <a:pathLst>
              <a:path w="1677432" h="1677432">
                <a:moveTo>
                  <a:pt x="0" y="0"/>
                </a:moveTo>
                <a:lnTo>
                  <a:pt x="1677432" y="0"/>
                </a:lnTo>
                <a:lnTo>
                  <a:pt x="1677432" y="1677432"/>
                </a:lnTo>
                <a:lnTo>
                  <a:pt x="0" y="1677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2305560" y="2523847"/>
            <a:ext cx="6607360" cy="3244855"/>
            <a:chOff x="0" y="0"/>
            <a:chExt cx="8337402" cy="4094474"/>
          </a:xfrm>
        </p:grpSpPr>
        <p:sp>
          <p:nvSpPr>
            <p:cNvPr id="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337402" cy="4094473"/>
            </a:xfrm>
            <a:custGeom>
              <a:avLst/>
              <a:gdLst/>
              <a:ahLst/>
              <a:cxnLst/>
              <a:rect l="l" t="t" r="r" b="b"/>
              <a:pathLst>
                <a:path w="8337402" h="4094473">
                  <a:moveTo>
                    <a:pt x="0" y="0"/>
                  </a:moveTo>
                  <a:lnTo>
                    <a:pt x="0" y="4094473"/>
                  </a:lnTo>
                  <a:lnTo>
                    <a:pt x="8337402" y="4094473"/>
                  </a:lnTo>
                  <a:lnTo>
                    <a:pt x="8337402" y="0"/>
                  </a:lnTo>
                  <a:lnTo>
                    <a:pt x="0" y="0"/>
                  </a:lnTo>
                  <a:close/>
                  <a:moveTo>
                    <a:pt x="8276441" y="4033513"/>
                  </a:moveTo>
                  <a:lnTo>
                    <a:pt x="59690" y="4033513"/>
                  </a:lnTo>
                  <a:lnTo>
                    <a:pt x="59690" y="59690"/>
                  </a:lnTo>
                  <a:lnTo>
                    <a:pt x="8276441" y="59690"/>
                  </a:lnTo>
                  <a:lnTo>
                    <a:pt x="8276441" y="40335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235488" y="5801335"/>
            <a:ext cx="1677432" cy="1677432"/>
          </a:xfrm>
          <a:custGeom>
            <a:avLst/>
            <a:gdLst/>
            <a:ahLst/>
            <a:cxnLst/>
            <a:rect l="l" t="t" r="r" b="b"/>
            <a:pathLst>
              <a:path w="1677432" h="1677432">
                <a:moveTo>
                  <a:pt x="0" y="1677432"/>
                </a:moveTo>
                <a:lnTo>
                  <a:pt x="1677432" y="1677432"/>
                </a:lnTo>
                <a:lnTo>
                  <a:pt x="1677432" y="0"/>
                </a:lnTo>
                <a:lnTo>
                  <a:pt x="0" y="0"/>
                </a:lnTo>
                <a:lnTo>
                  <a:pt x="0" y="167743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2305560" y="5801335"/>
            <a:ext cx="6607360" cy="3282152"/>
            <a:chOff x="0" y="0"/>
            <a:chExt cx="8337402" cy="4141536"/>
          </a:xfrm>
        </p:grpSpPr>
        <p:sp>
          <p:nvSpPr>
            <p:cNvPr id="9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337402" cy="4141536"/>
            </a:xfrm>
            <a:custGeom>
              <a:avLst/>
              <a:gdLst/>
              <a:ahLst/>
              <a:cxnLst/>
              <a:rect l="l" t="t" r="r" b="b"/>
              <a:pathLst>
                <a:path w="8337402" h="4141536">
                  <a:moveTo>
                    <a:pt x="0" y="0"/>
                  </a:moveTo>
                  <a:lnTo>
                    <a:pt x="0" y="4141536"/>
                  </a:lnTo>
                  <a:lnTo>
                    <a:pt x="8337402" y="4141536"/>
                  </a:lnTo>
                  <a:lnTo>
                    <a:pt x="8337402" y="0"/>
                  </a:lnTo>
                  <a:lnTo>
                    <a:pt x="0" y="0"/>
                  </a:lnTo>
                  <a:close/>
                  <a:moveTo>
                    <a:pt x="8276441" y="4080576"/>
                  </a:moveTo>
                  <a:lnTo>
                    <a:pt x="59690" y="4080576"/>
                  </a:lnTo>
                  <a:lnTo>
                    <a:pt x="59690" y="59690"/>
                  </a:lnTo>
                  <a:lnTo>
                    <a:pt x="8276441" y="59690"/>
                  </a:lnTo>
                  <a:lnTo>
                    <a:pt x="8276441" y="40805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046488" y="4048622"/>
            <a:ext cx="1677432" cy="1677432"/>
          </a:xfrm>
          <a:custGeom>
            <a:avLst/>
            <a:gdLst/>
            <a:ahLst/>
            <a:cxnLst/>
            <a:rect l="l" t="t" r="r" b="b"/>
            <a:pathLst>
              <a:path w="1677432" h="1677432">
                <a:moveTo>
                  <a:pt x="0" y="0"/>
                </a:moveTo>
                <a:lnTo>
                  <a:pt x="1677433" y="0"/>
                </a:lnTo>
                <a:lnTo>
                  <a:pt x="1677433" y="1677432"/>
                </a:lnTo>
                <a:lnTo>
                  <a:pt x="0" y="1677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9046488" y="2532250"/>
            <a:ext cx="6607360" cy="3228049"/>
            <a:chOff x="0" y="0"/>
            <a:chExt cx="8337402" cy="4073266"/>
          </a:xfrm>
        </p:grpSpPr>
        <p:sp>
          <p:nvSpPr>
            <p:cNvPr id="12" name="Freeform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337402" cy="4073266"/>
            </a:xfrm>
            <a:custGeom>
              <a:avLst/>
              <a:gdLst/>
              <a:ahLst/>
              <a:cxnLst/>
              <a:rect l="l" t="t" r="r" b="b"/>
              <a:pathLst>
                <a:path w="8337402" h="4073266">
                  <a:moveTo>
                    <a:pt x="0" y="0"/>
                  </a:moveTo>
                  <a:lnTo>
                    <a:pt x="0" y="4073266"/>
                  </a:lnTo>
                  <a:lnTo>
                    <a:pt x="8337402" y="4073266"/>
                  </a:lnTo>
                  <a:lnTo>
                    <a:pt x="8337402" y="0"/>
                  </a:lnTo>
                  <a:lnTo>
                    <a:pt x="0" y="0"/>
                  </a:lnTo>
                  <a:close/>
                  <a:moveTo>
                    <a:pt x="8276441" y="4012306"/>
                  </a:moveTo>
                  <a:lnTo>
                    <a:pt x="59690" y="4012306"/>
                  </a:lnTo>
                  <a:lnTo>
                    <a:pt x="59690" y="59690"/>
                  </a:lnTo>
                  <a:lnTo>
                    <a:pt x="8276441" y="59690"/>
                  </a:lnTo>
                  <a:lnTo>
                    <a:pt x="8276441" y="40123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9046488" y="5801335"/>
            <a:ext cx="1677432" cy="1677432"/>
          </a:xfrm>
          <a:custGeom>
            <a:avLst/>
            <a:gdLst/>
            <a:ahLst/>
            <a:cxnLst/>
            <a:rect l="l" t="t" r="r" b="b"/>
            <a:pathLst>
              <a:path w="1677432" h="1677432">
                <a:moveTo>
                  <a:pt x="1677433" y="0"/>
                </a:moveTo>
                <a:lnTo>
                  <a:pt x="0" y="0"/>
                </a:lnTo>
                <a:lnTo>
                  <a:pt x="0" y="1677432"/>
                </a:lnTo>
                <a:lnTo>
                  <a:pt x="1677433" y="1677432"/>
                </a:lnTo>
                <a:lnTo>
                  <a:pt x="167743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9046488" y="5801335"/>
            <a:ext cx="6607360" cy="3282152"/>
            <a:chOff x="0" y="0"/>
            <a:chExt cx="8337402" cy="4141536"/>
          </a:xfrm>
        </p:grpSpPr>
        <p:sp>
          <p:nvSpPr>
            <p:cNvPr id="15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8337402" cy="4141536"/>
            </a:xfrm>
            <a:custGeom>
              <a:avLst/>
              <a:gdLst/>
              <a:ahLst/>
              <a:cxnLst/>
              <a:rect l="l" t="t" r="r" b="b"/>
              <a:pathLst>
                <a:path w="8337402" h="4141536">
                  <a:moveTo>
                    <a:pt x="0" y="0"/>
                  </a:moveTo>
                  <a:lnTo>
                    <a:pt x="0" y="4141536"/>
                  </a:lnTo>
                  <a:lnTo>
                    <a:pt x="8337402" y="4141536"/>
                  </a:lnTo>
                  <a:lnTo>
                    <a:pt x="8337402" y="0"/>
                  </a:lnTo>
                  <a:lnTo>
                    <a:pt x="0" y="0"/>
                  </a:lnTo>
                  <a:close/>
                  <a:moveTo>
                    <a:pt x="8276441" y="4080576"/>
                  </a:moveTo>
                  <a:lnTo>
                    <a:pt x="59690" y="4080576"/>
                  </a:lnTo>
                  <a:lnTo>
                    <a:pt x="59690" y="59690"/>
                  </a:lnTo>
                  <a:lnTo>
                    <a:pt x="8276441" y="59690"/>
                  </a:lnTo>
                  <a:lnTo>
                    <a:pt x="8276441" y="40805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552294" y="2662449"/>
            <a:ext cx="5683746" cy="2373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Chuyển đổi kiến trúc sang Microservices để tối ưu hiệu năng.</a:t>
            </a:r>
          </a:p>
          <a:p>
            <a:pPr algn="l">
              <a:lnSpc>
                <a:spcPts val="468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552294" y="7259565"/>
            <a:ext cx="5111492" cy="178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Xây dựng In-app Chat bằng WebSockets (Socket.io).</a:t>
            </a:r>
          </a:p>
          <a:p>
            <a:pPr algn="l">
              <a:lnSpc>
                <a:spcPts val="468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954782" y="7300407"/>
            <a:ext cx="4549807" cy="178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68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Cập nhật Hệ thống đề xuất thông minh.</a:t>
            </a:r>
          </a:p>
          <a:p>
            <a:pPr algn="r">
              <a:lnSpc>
                <a:spcPts val="468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144000" y="2662449"/>
            <a:ext cx="6360589" cy="178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68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 hợp cổng thanh toán tự động &amp; Bản đồ số (Google Maps).</a:t>
            </a:r>
          </a:p>
          <a:p>
            <a:pPr algn="r">
              <a:lnSpc>
                <a:spcPts val="4680"/>
              </a:lnSpc>
            </a:pPr>
            <a:endParaRPr lang="en-US"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  <p:sp>
        <p:nvSpPr>
          <p:cNvPr id="21" name="Freeform 21"/>
          <p:cNvSpPr/>
          <p:nvPr/>
        </p:nvSpPr>
        <p:spPr>
          <a:xfrm>
            <a:off x="221344" y="84525"/>
            <a:ext cx="1850813" cy="1399040"/>
          </a:xfrm>
          <a:custGeom>
            <a:avLst/>
            <a:gdLst/>
            <a:ahLst/>
            <a:cxnLst/>
            <a:rect l="l" t="t" r="r" b="b"/>
            <a:pathLst>
              <a:path w="1850813" h="1399040">
                <a:moveTo>
                  <a:pt x="0" y="0"/>
                </a:moveTo>
                <a:lnTo>
                  <a:pt x="1850814" y="0"/>
                </a:lnTo>
                <a:lnTo>
                  <a:pt x="1850814" y="1399040"/>
                </a:lnTo>
                <a:lnTo>
                  <a:pt x="0" y="13990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2072158" y="525600"/>
            <a:ext cx="7651103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TRƯỜNG ĐẠI HỌC CÔNG NGHỆ SÀI GÒN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72192" y="525600"/>
            <a:ext cx="6087108" cy="46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spc="8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KHOA CÔNG NGHỆ THÔNG TIN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38644" y="1612519"/>
            <a:ext cx="6072496" cy="601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60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ĐỊNH HƯỚNG MỞ RỘNG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 blue paint splotch"/>
          <p:cNvSpPr/>
          <p:nvPr/>
        </p:nvSpPr>
        <p:spPr>
          <a:xfrm rot="-656518">
            <a:off x="404840" y="5863"/>
            <a:ext cx="16640120" cy="10275274"/>
          </a:xfrm>
          <a:custGeom>
            <a:avLst/>
            <a:gdLst/>
            <a:ahLst/>
            <a:cxnLst/>
            <a:rect l="l" t="t" r="r" b="b"/>
            <a:pathLst>
              <a:path w="16640120" h="10275274">
                <a:moveTo>
                  <a:pt x="0" y="0"/>
                </a:moveTo>
                <a:lnTo>
                  <a:pt x="16640120" y="0"/>
                </a:lnTo>
                <a:lnTo>
                  <a:pt x="16640120" y="10275274"/>
                </a:lnTo>
                <a:lnTo>
                  <a:pt x="0" y="10275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45836" y="2828449"/>
            <a:ext cx="16358127" cy="4439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452"/>
              </a:lnSpc>
            </a:pPr>
            <a:r>
              <a:rPr lang="en-US" sz="1342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CẢM ƠN THẦY CÔ ĐÃ LẮNG NGHE!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624</Words>
  <Application>Microsoft Office PowerPoint</Application>
  <PresentationFormat>Custom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Times New Roman Bold</vt:lpstr>
      <vt:lpstr>Calibri</vt:lpstr>
      <vt:lpstr>Times New Roman</vt:lpstr>
      <vt:lpstr>Arial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thuyết trình Mẫu Nét cọ màu sắc</dc:title>
  <cp:lastModifiedBy>phạm thư</cp:lastModifiedBy>
  <cp:revision>2</cp:revision>
  <dcterms:created xsi:type="dcterms:W3CDTF">2006-08-16T00:00:00Z</dcterms:created>
  <dcterms:modified xsi:type="dcterms:W3CDTF">2026-08-08T16:02:42Z</dcterms:modified>
  <dc:identifier>DAHRs48Uxtg</dc:identifier>
</cp:coreProperties>
</file>